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FFA751"/>
    <a:srgbClr val="39B0D4"/>
    <a:srgbClr val="9BBB59"/>
    <a:srgbClr val="727272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hyperlink" Target="https://www.who.int/publications/i/item/9789240015128" TargetMode="Externa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www.nin.res.in/dietaryguidelines/pdfjs/locale/DGI07052024P.pdf" TargetMode="External" /><Relationship Id="rId5" Type="http://schemas.openxmlformats.org/officeDocument/2006/relationships/hyperlink" Target="https://d.docs.live.net/8bc09efc88968f54/Documents/AROGYA%20SATHI%5b1%5d.pptx" TargetMode="External" /><Relationship Id="rId4" Type="http://schemas.openxmlformats.org/officeDocument/2006/relationships/hyperlink" Target="https://iris.who.int/bitstream/handle/10665/92455/9789241506090_eng.pdf?sequence=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39F61C-A5FA-1C2A-181C-C83E764D550C}"/>
              </a:ext>
            </a:extLst>
          </p:cNvPr>
          <p:cNvSpPr txBox="1"/>
          <p:nvPr/>
        </p:nvSpPr>
        <p:spPr>
          <a:xfrm>
            <a:off x="137687" y="1182472"/>
            <a:ext cx="1094799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Problem Statement Id 		: </a:t>
            </a:r>
            <a:r>
              <a:rPr lang="en-US" sz="2400" dirty="0">
                <a:solidFill>
                  <a:srgbClr val="010000"/>
                </a:solidFill>
              </a:rPr>
              <a:t>SIH</a:t>
            </a:r>
            <a:r>
              <a:rPr lang="en-US" sz="2400" dirty="0"/>
              <a:t>25049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C00000"/>
                </a:solidFill>
              </a:rPr>
              <a:t>Projects Statement Title    	:  </a:t>
            </a:r>
            <a:r>
              <a:rPr lang="en-US" sz="2400" dirty="0"/>
              <a:t>Ai-driven public health chatbot for disease awareness.</a:t>
            </a:r>
          </a:p>
          <a:p>
            <a:br>
              <a:rPr lang="en-US" sz="2400" dirty="0"/>
            </a:br>
            <a:r>
              <a:rPr lang="en-US" sz="2400" dirty="0">
                <a:solidFill>
                  <a:srgbClr val="C00000"/>
                </a:solidFill>
              </a:rPr>
              <a:t>Theme                   : </a:t>
            </a:r>
            <a:r>
              <a:rPr lang="en-US" sz="2400" dirty="0"/>
              <a:t>HealthTech , Bio Tech , Med Tech</a:t>
            </a:r>
          </a:p>
          <a:p>
            <a:br>
              <a:rPr lang="en-US" sz="2400" dirty="0"/>
            </a:br>
            <a:r>
              <a:rPr lang="en-US" sz="2400" dirty="0">
                <a:solidFill>
                  <a:srgbClr val="C00000"/>
                </a:solidFill>
              </a:rPr>
              <a:t>PS Category          : </a:t>
            </a:r>
            <a:r>
              <a:rPr lang="en-US" sz="2400" dirty="0"/>
              <a:t>Software </a:t>
            </a:r>
          </a:p>
          <a:p>
            <a:br>
              <a:rPr lang="en-US" sz="2400" dirty="0"/>
            </a:br>
            <a:r>
              <a:rPr lang="en-US" sz="2400" dirty="0">
                <a:solidFill>
                  <a:srgbClr val="C00000"/>
                </a:solidFill>
                <a:cs typeface="Arial" panose="020B0604020202020204" pitchFamily="34" charset="0"/>
              </a:rPr>
              <a:t>Team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cs typeface="Arial" panose="020B0604020202020204" pitchFamily="34" charset="0"/>
              </a:rPr>
              <a:t>ID        	     :</a:t>
            </a:r>
          </a:p>
          <a:p>
            <a:br>
              <a:rPr lang="en-US" sz="2400" dirty="0">
                <a:solidFill>
                  <a:schemeClr val="accent2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Team Name  	     : </a:t>
            </a:r>
            <a:r>
              <a:rPr lang="en-US" sz="2400" dirty="0">
                <a:solidFill>
                  <a:srgbClr val="010000"/>
                </a:solidFill>
              </a:rPr>
              <a:t>MedCoders-6</a:t>
            </a:r>
            <a:endParaRPr lang="en-IN" sz="2400" dirty="0">
              <a:solidFill>
                <a:srgbClr val="01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5BAA8-924A-2F61-2996-9D8654DCB46F}"/>
              </a:ext>
            </a:extLst>
          </p:cNvPr>
          <p:cNvSpPr txBox="1"/>
          <p:nvPr/>
        </p:nvSpPr>
        <p:spPr>
          <a:xfrm>
            <a:off x="2286000" y="121147"/>
            <a:ext cx="733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SMART INDIA HACKATHON 2025</a:t>
            </a:r>
            <a:endParaRPr lang="en-IN" sz="3600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6446" y="2347861"/>
            <a:ext cx="3203509" cy="3426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68195"/>
            <a:ext cx="12191999" cy="38980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398" y="57098"/>
            <a:ext cx="1992088" cy="7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70050D-D58A-D76B-5F37-101E6293EB82}"/>
              </a:ext>
            </a:extLst>
          </p:cNvPr>
          <p:cNvSpPr/>
          <p:nvPr/>
        </p:nvSpPr>
        <p:spPr>
          <a:xfrm>
            <a:off x="3477117" y="136521"/>
            <a:ext cx="6466540" cy="251598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accent6"/>
              </a:solidFill>
            </a:endParaRPr>
          </a:p>
          <a:p>
            <a:pPr algn="ctr"/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Disease 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 AI bot that helps people understand health impacts, recognize early symptoms.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Get guidance for minor health issues using natural remedies and medicines.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Natural and medicinal prescription(referred by WHO), low-cost, effective</a:t>
            </a:r>
            <a:r>
              <a:rPr lang="en-IN" sz="2000" dirty="0"/>
              <a:t>,eco-friendly.</a:t>
            </a:r>
            <a:br>
              <a:rPr lang="en-US" sz="2000" dirty="0"/>
            </a:br>
            <a:endParaRPr lang="en-US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38D4A-1A58-9EE2-D000-EDCC9E9ADACC}"/>
              </a:ext>
            </a:extLst>
          </p:cNvPr>
          <p:cNvSpPr/>
          <p:nvPr/>
        </p:nvSpPr>
        <p:spPr>
          <a:xfrm>
            <a:off x="3477117" y="2870539"/>
            <a:ext cx="3682974" cy="334929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Chat Bot (Arogya Sathi):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Access via smartphone or toll-free dialer.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Search by voice, text and image.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Personalized health tips , remedies / medicines.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Exercises and diet guidance.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Alerts &amp; hospital details for critical cases.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Feedback from user.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34B638-1080-D3A5-EAB1-844DE8079596}"/>
              </a:ext>
            </a:extLst>
          </p:cNvPr>
          <p:cNvSpPr/>
          <p:nvPr/>
        </p:nvSpPr>
        <p:spPr>
          <a:xfrm>
            <a:off x="7696784" y="2898499"/>
            <a:ext cx="3682974" cy="321186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401DF9-2B07-AE31-410C-84DABBFFFD5C}"/>
              </a:ext>
            </a:extLst>
          </p:cNvPr>
          <p:cNvSpPr/>
          <p:nvPr/>
        </p:nvSpPr>
        <p:spPr>
          <a:xfrm>
            <a:off x="255662" y="886532"/>
            <a:ext cx="2953110" cy="54251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Innovations: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Mult</a:t>
            </a:r>
            <a:r>
              <a:rPr lang="en-IN" sz="2000" dirty="0" err="1"/>
              <a:t>i</a:t>
            </a:r>
            <a:r>
              <a:rPr lang="en-IN" sz="2000" dirty="0"/>
              <a:t> mode access</a:t>
            </a:r>
            <a:r>
              <a:rPr lang="en-US" sz="2000" dirty="0"/>
              <a:t>(WhatsApp , SMS </a:t>
            </a:r>
            <a:r>
              <a:rPr lang="en-IN" sz="2000" dirty="0"/>
              <a:t>, offline , app</a:t>
            </a:r>
            <a:r>
              <a:rPr lang="en-US" sz="20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Emergency alerts (hospital /doctor details  in critical cases).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Seasonal health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3D Diagnosis access(only for exterior parts of body).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Gender specific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Tracking health history of user.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1" name="Picture 3" descr="Empowering Your Health with ChatGPT: A Guide to AI Healthcare ...">
            <a:extLst>
              <a:ext uri="{FF2B5EF4-FFF2-40B4-BE49-F238E27FC236}">
                <a16:creationId xmlns:a16="http://schemas.microsoft.com/office/drawing/2014/main" id="{85C802C2-89C2-544C-B666-D1A67F34FD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7696781" y="2881227"/>
            <a:ext cx="3682975" cy="322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85EB0570-6C5B-2447-1EC9-BF1D7C7C0DAD}"/>
              </a:ext>
            </a:extLst>
          </p:cNvPr>
          <p:cNvSpPr/>
          <p:nvPr/>
        </p:nvSpPr>
        <p:spPr>
          <a:xfrm>
            <a:off x="141514" y="248660"/>
            <a:ext cx="2106829" cy="38950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10000"/>
                </a:solidFill>
              </a:rPr>
              <a:t>MedCoders-6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65868"/>
            <a:ext cx="12191999" cy="39213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2101" y="641636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970" y="57097"/>
            <a:ext cx="1665515" cy="84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DACF34-1389-96FB-E048-596E731A0EF2}"/>
              </a:ext>
            </a:extLst>
          </p:cNvPr>
          <p:cNvSpPr/>
          <p:nvPr/>
        </p:nvSpPr>
        <p:spPr>
          <a:xfrm>
            <a:off x="6093012" y="2224711"/>
            <a:ext cx="2173053" cy="57900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Sabon Next LT"/>
              </a:rPr>
              <a:t>Search: Typing, Voice, Image Upload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87709A-D1A7-03F5-C51E-0861816DCB6C}"/>
              </a:ext>
            </a:extLst>
          </p:cNvPr>
          <p:cNvSpPr/>
          <p:nvPr/>
        </p:nvSpPr>
        <p:spPr>
          <a:xfrm>
            <a:off x="8639474" y="2229951"/>
            <a:ext cx="2225739" cy="579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Sabon Next LT"/>
              </a:rPr>
              <a:t> Search: via Voice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9D93E2-8730-20E1-3CB6-C3DC7768800B}"/>
              </a:ext>
            </a:extLst>
          </p:cNvPr>
          <p:cNvSpPr/>
          <p:nvPr/>
        </p:nvSpPr>
        <p:spPr>
          <a:xfrm>
            <a:off x="6654408" y="3048859"/>
            <a:ext cx="3630309" cy="6171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Sabon Next LT"/>
              </a:rPr>
              <a:t>Details :Previous health issues and enquire about problem.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42BC44-3975-D40A-6A14-5157F94D6D6D}"/>
              </a:ext>
            </a:extLst>
          </p:cNvPr>
          <p:cNvSpPr/>
          <p:nvPr/>
        </p:nvSpPr>
        <p:spPr>
          <a:xfrm>
            <a:off x="6126201" y="3887605"/>
            <a:ext cx="2139865" cy="5217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cs typeface="Sabon Next LT"/>
              </a:rPr>
              <a:t>Responses: Text, Voice, Images, 3D Diagnosis</a:t>
            </a:r>
            <a:endParaRPr lang="en-IN" sz="1600" dirty="0">
              <a:cs typeface="Sabon Next 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AF8882-EBE8-CEF0-2109-BFFE8F03DCE2}"/>
              </a:ext>
            </a:extLst>
          </p:cNvPr>
          <p:cNvSpPr/>
          <p:nvPr/>
        </p:nvSpPr>
        <p:spPr>
          <a:xfrm>
            <a:off x="8665817" y="3891435"/>
            <a:ext cx="2139865" cy="5268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Sabon Next LT"/>
              </a:rPr>
              <a:t>Responses</a:t>
            </a:r>
            <a:r>
              <a:rPr lang="en-US" sz="1600" dirty="0">
                <a:cs typeface="Sabon Next LT"/>
              </a:rPr>
              <a:t>: Voice. </a:t>
            </a:r>
            <a:endParaRPr lang="en-IN" sz="1600" dirty="0">
              <a:cs typeface="Sabon Next 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6FF6DE-F70B-417B-DD2C-1C096786DE43}"/>
              </a:ext>
            </a:extLst>
          </p:cNvPr>
          <p:cNvSpPr/>
          <p:nvPr/>
        </p:nvSpPr>
        <p:spPr>
          <a:xfrm>
            <a:off x="6452606" y="4750863"/>
            <a:ext cx="4033911" cy="4425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cs typeface="Sabon Next LT"/>
              </a:rPr>
              <a:t>Info: Remedies and medicines (referred by WHO), Exercise, Diet tips.</a:t>
            </a:r>
            <a:endParaRPr lang="en-IN" sz="1600" dirty="0">
              <a:cs typeface="Sabon Next 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EED821-175A-94C6-89D1-DD6A5AB64BA4}"/>
              </a:ext>
            </a:extLst>
          </p:cNvPr>
          <p:cNvSpPr/>
          <p:nvPr/>
        </p:nvSpPr>
        <p:spPr>
          <a:xfrm>
            <a:off x="6594027" y="5404842"/>
            <a:ext cx="3751068" cy="4431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cs typeface="Sabon Next LT"/>
              </a:rPr>
              <a:t>Doctor Alert: Suggests consulting a doctor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A3E7A0-41D3-427C-07D7-4033E3B24B8F}"/>
              </a:ext>
            </a:extLst>
          </p:cNvPr>
          <p:cNvSpPr/>
          <p:nvPr/>
        </p:nvSpPr>
        <p:spPr>
          <a:xfrm>
            <a:off x="7251529" y="6036634"/>
            <a:ext cx="2436063" cy="3886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cs typeface="Sabon Next LT"/>
              </a:rPr>
              <a:t>Feedback From user.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C85085-512C-242D-E4FB-E6773A2DDF3C}"/>
              </a:ext>
            </a:extLst>
          </p:cNvPr>
          <p:cNvCxnSpPr>
            <a:cxnSpLocks/>
            <a:stCxn id="85" idx="2"/>
            <a:endCxn id="87" idx="0"/>
          </p:cNvCxnSpPr>
          <p:nvPr/>
        </p:nvCxnSpPr>
        <p:spPr>
          <a:xfrm flipH="1">
            <a:off x="7179538" y="1315831"/>
            <a:ext cx="2" cy="308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E0F619-4F5A-C080-9CC6-B511928D0BF0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>
            <a:off x="9735749" y="1265071"/>
            <a:ext cx="16595" cy="354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52F1BD2-1725-1587-D7ED-B885557C8A9F}"/>
              </a:ext>
            </a:extLst>
          </p:cNvPr>
          <p:cNvCxnSpPr>
            <a:cxnSpLocks/>
            <a:stCxn id="84" idx="2"/>
            <a:endCxn id="86" idx="0"/>
          </p:cNvCxnSpPr>
          <p:nvPr/>
        </p:nvCxnSpPr>
        <p:spPr>
          <a:xfrm>
            <a:off x="8534386" y="558799"/>
            <a:ext cx="1201363" cy="274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BE99C9A-4D87-B171-335B-4F5EA944A600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 flipH="1">
            <a:off x="7179540" y="558799"/>
            <a:ext cx="1354846" cy="332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D9CD0D-4D7B-E530-67C3-8C59738AC6C0}"/>
              </a:ext>
            </a:extLst>
          </p:cNvPr>
          <p:cNvCxnSpPr>
            <a:cxnSpLocks/>
            <a:stCxn id="87" idx="2"/>
            <a:endCxn id="18" idx="0"/>
          </p:cNvCxnSpPr>
          <p:nvPr/>
        </p:nvCxnSpPr>
        <p:spPr>
          <a:xfrm>
            <a:off x="7179538" y="1966375"/>
            <a:ext cx="1" cy="258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5DE03AB-E2BB-3BF7-E666-A6FDCE23CF92}"/>
              </a:ext>
            </a:extLst>
          </p:cNvPr>
          <p:cNvCxnSpPr>
            <a:cxnSpLocks/>
            <a:stCxn id="88" idx="2"/>
            <a:endCxn id="19" idx="0"/>
          </p:cNvCxnSpPr>
          <p:nvPr/>
        </p:nvCxnSpPr>
        <p:spPr>
          <a:xfrm>
            <a:off x="9752344" y="1969457"/>
            <a:ext cx="0" cy="260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2D2C190-5BFC-94EA-716A-2BA63452C2CB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7179539" y="2803712"/>
            <a:ext cx="1290024" cy="245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5C3FED7-56B7-62D6-657E-6F50C9D74BC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8469563" y="2808951"/>
            <a:ext cx="1282781" cy="239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D68DC4F-5041-2D17-CC09-4B5C97EBC3F3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7196134" y="3666041"/>
            <a:ext cx="1273429" cy="221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F2FC23C-DDF8-6041-E76E-01B4748DA23B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8469563" y="3666041"/>
            <a:ext cx="1266187" cy="225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7CA73BC-4975-0C6E-19F8-AFFE97EE6EA6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7196134" y="4409397"/>
            <a:ext cx="1273428" cy="341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04AFDCF-AA3E-0ABB-8AC7-F53376505E7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8469562" y="4418299"/>
            <a:ext cx="1266188" cy="33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6763AA8-E558-03A8-4D07-D9315AAF9A3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8469561" y="5193381"/>
            <a:ext cx="1" cy="211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4AD433E-B61D-9F1A-84B6-186DE84F6B0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8469561" y="5847970"/>
            <a:ext cx="0" cy="18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8095780-4E20-8903-DC5E-43D829CAA1F5}"/>
              </a:ext>
            </a:extLst>
          </p:cNvPr>
          <p:cNvSpPr/>
          <p:nvPr/>
        </p:nvSpPr>
        <p:spPr>
          <a:xfrm>
            <a:off x="7512681" y="173896"/>
            <a:ext cx="2043409" cy="3849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AROGYA SATHI</a:t>
            </a:r>
            <a:endParaRPr lang="en-IN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74B8726-301F-D977-1BC7-905CFF5793F9}"/>
              </a:ext>
            </a:extLst>
          </p:cNvPr>
          <p:cNvSpPr/>
          <p:nvPr/>
        </p:nvSpPr>
        <p:spPr>
          <a:xfrm>
            <a:off x="6093013" y="891288"/>
            <a:ext cx="2173053" cy="4245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dirty="0">
                <a:cs typeface="Sabon Next LT"/>
              </a:rPr>
              <a:t>Smart Phone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4E9F037-BBB8-460F-D6AF-1AD66CCD3046}"/>
              </a:ext>
            </a:extLst>
          </p:cNvPr>
          <p:cNvSpPr/>
          <p:nvPr/>
        </p:nvSpPr>
        <p:spPr>
          <a:xfrm>
            <a:off x="8721006" y="833512"/>
            <a:ext cx="2029486" cy="4315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dirty="0">
                <a:cs typeface="Sabon Next LT"/>
              </a:rPr>
              <a:t>Normal Phone</a:t>
            </a:r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0EECEC8-3B4E-4C1A-AD2E-A49262501D03}"/>
              </a:ext>
            </a:extLst>
          </p:cNvPr>
          <p:cNvSpPr/>
          <p:nvPr/>
        </p:nvSpPr>
        <p:spPr>
          <a:xfrm>
            <a:off x="6093011" y="1624109"/>
            <a:ext cx="2173053" cy="3422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Sabon Next LT"/>
              </a:rPr>
              <a:t>Multi Language</a:t>
            </a:r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0E91220-0526-A3AD-E8A1-40E1E891AFEB}"/>
              </a:ext>
            </a:extLst>
          </p:cNvPr>
          <p:cNvSpPr/>
          <p:nvPr/>
        </p:nvSpPr>
        <p:spPr>
          <a:xfrm>
            <a:off x="8665817" y="1619473"/>
            <a:ext cx="2173053" cy="3499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dirty="0" err="1">
                <a:cs typeface="Sabon Next LT"/>
              </a:rPr>
              <a:t>Dialer</a:t>
            </a:r>
            <a:r>
              <a:rPr lang="en-IN" dirty="0">
                <a:cs typeface="Sabon Next LT"/>
              </a:rPr>
              <a:t> : Toll free no</a:t>
            </a:r>
            <a:endParaRPr lang="en-IN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DFFA965-E6C4-DD5D-ACAD-DF44FD185AE7}"/>
              </a:ext>
            </a:extLst>
          </p:cNvPr>
          <p:cNvSpPr txBox="1"/>
          <p:nvPr/>
        </p:nvSpPr>
        <p:spPr>
          <a:xfrm>
            <a:off x="196416" y="3746522"/>
            <a:ext cx="519316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ookman Old Style" panose="02050604050505020204" pitchFamily="18" charset="0"/>
              </a:rPr>
              <a:t>TECHNICAL APPROACH</a:t>
            </a:r>
            <a:endParaRPr lang="en-IN" sz="3200" dirty="0">
              <a:latin typeface="Bookman Old Style" panose="02050604050505020204" pitchFamily="18" charset="0"/>
            </a:endParaRPr>
          </a:p>
        </p:txBody>
      </p:sp>
      <p:sp>
        <p:nvSpPr>
          <p:cNvPr id="169" name="TextBox 1">
            <a:extLst>
              <a:ext uri="{FF2B5EF4-FFF2-40B4-BE49-F238E27FC236}">
                <a16:creationId xmlns:a16="http://schemas.microsoft.com/office/drawing/2014/main" id="{F7445D74-4A65-9E13-79D2-0C07FD7A3483}"/>
              </a:ext>
            </a:extLst>
          </p:cNvPr>
          <p:cNvSpPr txBox="1"/>
          <p:nvPr/>
        </p:nvSpPr>
        <p:spPr>
          <a:xfrm>
            <a:off x="113551" y="4225125"/>
            <a:ext cx="58189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rgbClr val="7030A0"/>
                </a:solidFill>
              </a:rPr>
              <a:t>Frontend / UI</a:t>
            </a:r>
          </a:p>
          <a:p>
            <a:r>
              <a:rPr lang="en-IN" sz="2000" b="1" dirty="0"/>
              <a:t>Web App: </a:t>
            </a:r>
            <a:r>
              <a:rPr lang="en-IN" sz="2000" dirty="0"/>
              <a:t>Vue &amp; simple HTML-CSS</a:t>
            </a:r>
          </a:p>
          <a:p>
            <a:endParaRPr lang="en-IN" sz="900" dirty="0"/>
          </a:p>
          <a:p>
            <a:r>
              <a:rPr lang="en-IN" sz="2000" b="1" dirty="0">
                <a:solidFill>
                  <a:srgbClr val="7030A0"/>
                </a:solidFill>
              </a:rPr>
              <a:t>Backend</a:t>
            </a:r>
            <a:r>
              <a:rPr lang="en-IN" sz="2000" b="1" dirty="0"/>
              <a:t>           </a:t>
            </a:r>
            <a:endParaRPr lang="en-IN" sz="2000" dirty="0"/>
          </a:p>
          <a:p>
            <a:r>
              <a:rPr lang="en-IN" sz="2000" b="1" dirty="0"/>
              <a:t>Intent Classification: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IN" sz="2000" dirty="0" err="1"/>
              <a:t>Dialogflow</a:t>
            </a:r>
            <a:r>
              <a:rPr lang="en-IN" sz="2000" dirty="0"/>
              <a:t> / Rasa  / Lang Chain</a:t>
            </a:r>
          </a:p>
          <a:p>
            <a:endParaRPr lang="en-IN" sz="900" dirty="0"/>
          </a:p>
          <a:p>
            <a:r>
              <a:rPr lang="en-IN" sz="2000" b="1" dirty="0">
                <a:solidFill>
                  <a:srgbClr val="7030A0"/>
                </a:solidFill>
              </a:rPr>
              <a:t>Database</a:t>
            </a:r>
          </a:p>
          <a:p>
            <a:r>
              <a:rPr lang="en-IN" sz="2000" dirty="0"/>
              <a:t>Store FAQs &amp; disease info in MongoDB </a:t>
            </a: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C4A7B37D-E06A-DE67-60D2-B634E774D36B}"/>
              </a:ext>
            </a:extLst>
          </p:cNvPr>
          <p:cNvSpPr/>
          <p:nvPr/>
        </p:nvSpPr>
        <p:spPr>
          <a:xfrm>
            <a:off x="1" y="204364"/>
            <a:ext cx="2133600" cy="39213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10000"/>
                </a:solidFill>
              </a:rPr>
              <a:t>MedCoders-6</a:t>
            </a:r>
            <a:endParaRPr lang="en-IN" dirty="0"/>
          </a:p>
        </p:txBody>
      </p:sp>
      <p:pic>
        <p:nvPicPr>
          <p:cNvPr id="17" name="Picture 16" descr="A diagram of a chat bot&#10;&#10;AI-generated content may be incorrect.">
            <a:extLst>
              <a:ext uri="{FF2B5EF4-FFF2-40B4-BE49-F238E27FC236}">
                <a16:creationId xmlns:a16="http://schemas.microsoft.com/office/drawing/2014/main" id="{C8A1D466-37D6-FF0F-C08E-A91821C2B5A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2821" y="459815"/>
            <a:ext cx="2411647" cy="31224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B3EE84-5ADF-4328-2ED0-8FC644CF455E}"/>
              </a:ext>
            </a:extLst>
          </p:cNvPr>
          <p:cNvSpPr txBox="1"/>
          <p:nvPr/>
        </p:nvSpPr>
        <p:spPr>
          <a:xfrm flipH="1" flipV="1">
            <a:off x="2124357" y="57097"/>
            <a:ext cx="3485810" cy="3708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A70D6-48AB-1B2F-3669-2DC72934B660}"/>
              </a:ext>
            </a:extLst>
          </p:cNvPr>
          <p:cNvSpPr txBox="1"/>
          <p:nvPr/>
        </p:nvSpPr>
        <p:spPr>
          <a:xfrm flipH="1">
            <a:off x="2514501" y="0"/>
            <a:ext cx="2580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solidFill>
                  <a:srgbClr val="C00000"/>
                </a:solidFill>
              </a:rPr>
              <a:t>Sample example :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8626" y="57097"/>
            <a:ext cx="1821859" cy="92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94E35F-FF5D-D89D-A663-7BDAE322D1C3}"/>
              </a:ext>
            </a:extLst>
          </p:cNvPr>
          <p:cNvSpPr txBox="1"/>
          <p:nvPr/>
        </p:nvSpPr>
        <p:spPr>
          <a:xfrm>
            <a:off x="472779" y="1031818"/>
            <a:ext cx="623175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Feasibility</a:t>
            </a:r>
          </a:p>
          <a:p>
            <a:endParaRPr lang="en-IN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Works on smartphones &amp; normal 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Accessible via mobile, web, SMS, IVR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Low-cost, user-friendly,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900" dirty="0"/>
          </a:p>
          <a:p>
            <a:r>
              <a:rPr lang="en-IN" sz="2000" b="1" dirty="0"/>
              <a:t>Challenges</a:t>
            </a:r>
          </a:p>
          <a:p>
            <a:endParaRPr lang="en-IN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AI accuracy in symptom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User trust in chatbot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Healthcare regulation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900" dirty="0"/>
          </a:p>
          <a:p>
            <a:r>
              <a:rPr lang="en-IN" sz="2000" b="1" dirty="0"/>
              <a:t>Strategies</a:t>
            </a:r>
          </a:p>
          <a:p>
            <a:endParaRPr lang="en-IN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Verified data &amp; expert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Clear sources &amp; simple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Secure data &amp; privacy laws</a:t>
            </a:r>
          </a:p>
        </p:txBody>
      </p:sp>
      <p:pic>
        <p:nvPicPr>
          <p:cNvPr id="5" name="Picture 4" descr="A chatbot with various icons&#10;&#10;AI-generated content may be incorrect.">
            <a:extLst>
              <a:ext uri="{FF2B5EF4-FFF2-40B4-BE49-F238E27FC236}">
                <a16:creationId xmlns:a16="http://schemas.microsoft.com/office/drawing/2014/main" id="{8340D5B3-09BD-BD9A-D3C2-F5C3287DA48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50200" y="981127"/>
            <a:ext cx="5164590" cy="52351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470A3E-BFE8-4919-7D46-B831EF92B677}"/>
              </a:ext>
            </a:extLst>
          </p:cNvPr>
          <p:cNvSpPr txBox="1"/>
          <p:nvPr/>
        </p:nvSpPr>
        <p:spPr>
          <a:xfrm>
            <a:off x="3357064" y="201897"/>
            <a:ext cx="5032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FEASIBILITY AND VIABILITY</a:t>
            </a:r>
            <a:endParaRPr lang="en-IN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C4A4D9B-BFE9-A1F4-563E-8FD7C5B598BF}"/>
              </a:ext>
            </a:extLst>
          </p:cNvPr>
          <p:cNvSpPr/>
          <p:nvPr/>
        </p:nvSpPr>
        <p:spPr>
          <a:xfrm>
            <a:off x="1" y="201897"/>
            <a:ext cx="2161564" cy="46960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10000"/>
                </a:solidFill>
              </a:rPr>
              <a:t>MedCoders-6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300" y="57097"/>
            <a:ext cx="1680186" cy="85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245180-864B-B70A-B5C6-6E837509E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CFCFD"/>
              </a:clrFrom>
              <a:clrTo>
                <a:srgbClr val="FCFC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801723"/>
            <a:ext cx="5277678" cy="55530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DD63F3-C0E8-47FE-5D7B-CD50F36F7BC6}"/>
              </a:ext>
            </a:extLst>
          </p:cNvPr>
          <p:cNvSpPr/>
          <p:nvPr/>
        </p:nvSpPr>
        <p:spPr>
          <a:xfrm>
            <a:off x="185057" y="6063343"/>
            <a:ext cx="1807029" cy="1959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1D86B-1046-8756-5B9A-DE1ED7FD86BD}"/>
              </a:ext>
            </a:extLst>
          </p:cNvPr>
          <p:cNvSpPr/>
          <p:nvPr/>
        </p:nvSpPr>
        <p:spPr>
          <a:xfrm>
            <a:off x="4016829" y="5943600"/>
            <a:ext cx="1175657" cy="2746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C4B45-388E-FAEC-2D66-2B759A736267}"/>
              </a:ext>
            </a:extLst>
          </p:cNvPr>
          <p:cNvSpPr txBox="1"/>
          <p:nvPr/>
        </p:nvSpPr>
        <p:spPr>
          <a:xfrm>
            <a:off x="5277678" y="1320730"/>
            <a:ext cx="672831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Target Audience</a:t>
            </a:r>
          </a:p>
          <a:p>
            <a:endParaRPr lang="en-US" sz="1200" dirty="0">
              <a:solidFill>
                <a:srgbClr val="7030A0"/>
              </a:solidFill>
            </a:endParaRP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Rural People :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dirty="0"/>
              <a:t>Easy health access, saves time &amp; cost</a:t>
            </a: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Students :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dirty="0"/>
              <a:t>Builds health knowledge &amp; habits.</a:t>
            </a: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Workers :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dirty="0"/>
              <a:t>Quick remedies, fewer sick days.</a:t>
            </a: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Families/Communities :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dirty="0"/>
              <a:t>Preventive care, healthier society.</a:t>
            </a:r>
          </a:p>
          <a:p>
            <a:endParaRPr lang="en-US" sz="1200" dirty="0"/>
          </a:p>
          <a:p>
            <a:r>
              <a:rPr lang="en-US" sz="2800" b="1" dirty="0">
                <a:solidFill>
                  <a:srgbClr val="7030A0"/>
                </a:solidFill>
              </a:rPr>
              <a:t>Benefits</a:t>
            </a:r>
          </a:p>
          <a:p>
            <a:endParaRPr lang="en-US" sz="1200" dirty="0">
              <a:solidFill>
                <a:srgbClr val="7030A0"/>
              </a:solidFill>
            </a:endParaRP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Social :</a:t>
            </a:r>
            <a:r>
              <a:rPr lang="en-US" sz="2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dirty="0"/>
              <a:t>Reduces misinformation, empowers citizens.</a:t>
            </a: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Economic : </a:t>
            </a:r>
            <a:r>
              <a:rPr lang="en-US" sz="2000" dirty="0"/>
              <a:t>Early awareness lowers hospital costs.</a:t>
            </a: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Environmental : </a:t>
            </a:r>
            <a:r>
              <a:rPr lang="en-US" sz="2000" dirty="0"/>
              <a:t>Digital-first, less paper use.</a:t>
            </a: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Scalability : </a:t>
            </a:r>
            <a:r>
              <a:rPr lang="en-US" sz="2000" dirty="0"/>
              <a:t>Expandable to multiple disease &amp; mental health.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EA7646-F9C7-DCD3-222B-515A4618368F}"/>
              </a:ext>
            </a:extLst>
          </p:cNvPr>
          <p:cNvSpPr txBox="1"/>
          <p:nvPr/>
        </p:nvSpPr>
        <p:spPr>
          <a:xfrm>
            <a:off x="3446045" y="239486"/>
            <a:ext cx="5599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IMPACT  AND BENEFITS</a:t>
            </a:r>
            <a:endParaRPr lang="en-IN"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C03B5D-7748-9CAB-E826-3A3AA144EF24}"/>
              </a:ext>
            </a:extLst>
          </p:cNvPr>
          <p:cNvSpPr/>
          <p:nvPr/>
        </p:nvSpPr>
        <p:spPr>
          <a:xfrm>
            <a:off x="0" y="239486"/>
            <a:ext cx="2098595" cy="42183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10000"/>
                </a:solidFill>
              </a:rPr>
              <a:t>MedCoders-6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4"/>
            <a:ext cx="10972800" cy="719316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8EBFB4-1680-7DB4-B8DE-7B95721FD129}"/>
              </a:ext>
            </a:extLst>
          </p:cNvPr>
          <p:cNvSpPr txBox="1"/>
          <p:nvPr/>
        </p:nvSpPr>
        <p:spPr>
          <a:xfrm>
            <a:off x="1763486" y="618531"/>
            <a:ext cx="983879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WHO Traditional Medicine Strategy 2014-2023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https://iris.who.int/bitstream/handle/10665/92455/9789241506090_eng.pdf?sequence=1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AYUSH for New India: Vision and Strategy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https://aiia.gov.in/wp-content/uploads/2024/03/AyushDecadeGrowthReport-Eng-Final.pdf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Diet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Dietary Guidelines for Indians-2024 (ICMR-NIN)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https://www.nin.res.in/dietaryguidelines/pdfjs/locale/DGI07052024P.pdf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FAO Food-based dietary guidelines – India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https://www.who.int/news-room/fact-sheets/detail/healthy-diet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WHO Physical activity &amp; sedentary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guidelines 2020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https://www.who.int/publications/i/item/9789240015128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Consensus Physical Activity Guidelines for Asian Indians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https://www.who.int/news-room/fact-sheets/detail/physical-activity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EB8C46-DED0-1061-778D-70B4D604E4EC}"/>
              </a:ext>
            </a:extLst>
          </p:cNvPr>
          <p:cNvSpPr/>
          <p:nvPr/>
        </p:nvSpPr>
        <p:spPr>
          <a:xfrm>
            <a:off x="0" y="264094"/>
            <a:ext cx="2161563" cy="50323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10000"/>
                </a:solidFill>
              </a:rPr>
              <a:t>MedCoders-6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7805</TotalTime>
  <Words>625</Words>
  <Application>Microsoft Office PowerPoint</Application>
  <PresentationFormat>Widescreen</PresentationFormat>
  <Paragraphs>125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ramanajagarlamudi84@gmail.com</cp:lastModifiedBy>
  <cp:revision>153</cp:revision>
  <dcterms:created xsi:type="dcterms:W3CDTF">2013-12-12T18:46:50Z</dcterms:created>
  <dcterms:modified xsi:type="dcterms:W3CDTF">2025-09-25T09:19:28Z</dcterms:modified>
  <cp:category/>
</cp:coreProperties>
</file>